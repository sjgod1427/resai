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67" r:id="rId4"/>
    <p:sldId id="260" r:id="rId5"/>
    <p:sldId id="262" r:id="rId6"/>
    <p:sldId id="269" r:id="rId7"/>
    <p:sldId id="271" r:id="rId8"/>
    <p:sldId id="270" r:id="rId9"/>
    <p:sldId id="272" r:id="rId10"/>
    <p:sldId id="264" r:id="rId11"/>
    <p:sldId id="273" r:id="rId12"/>
    <p:sldId id="274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98F"/>
    <a:srgbClr val="E5F3DD"/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09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D3C8-430E-6A39-5C99-51B28469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69B2C-E6E5-3CEA-1D47-F67F39757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5E5A7-3240-B79A-EFC3-3A063D04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72866-EA0B-87F9-5CB3-7A28948C4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52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E6B6-88A1-1BC0-829D-5E5B159D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CDDDE-8C37-9CD3-9A5A-54824D16F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B64EA-3EBD-56B6-CBAD-CADD5EE63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7CA4F-E2E7-9CF2-902C-8916C054D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12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AFCD-84C1-1891-9CE9-79832573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97FB6-1F20-3027-6CAF-F25146829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2E850-5921-E34C-5F75-B5F5D6FFE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C3E76-A534-B5F0-9F40-54448130B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14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2CBD-9ACB-D89D-6C45-18FCF122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ECD4B-95FF-EDDE-D323-2DACE8434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AAD50-BE50-CA27-0187-9BC8A85A9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0E30A-66BF-CE3A-4C85-3478F7667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06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F9F6-A869-848E-1F11-384C4316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DC507-A0D6-981F-9770-A4C71120B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F95F6-2695-03CD-7136-89E0B2A46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7FF22-F16E-7AB0-759A-6F821949B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04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0E12-4343-8B38-7C38-613A228C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7B722-2C04-B940-5FA2-394324A72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99705-04F0-EBBE-8CD5-7B378ECA7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FE363-663A-7E03-FE25-6B272569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88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F7F3-F8BF-7821-58EE-A9EFAACA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0CCF2-D709-B9FA-DFB0-BF25A8D19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22C59-622F-AD2C-FF58-507323A3A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EA375-9C2F-9467-A8C5-7F1222587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5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E133-0C34-8574-0418-0D64D1AA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3DCD0-708F-8550-8271-CF52C98E5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6066F-A07C-CF72-584B-509A95FA9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D090C-8AAB-F022-7E3B-9FC48A50D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3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4D9934-3CA5-F7B3-CA13-B403AB42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6EAB2F-087F-416E-DD98-A90D67D482CB}"/>
              </a:ext>
            </a:extLst>
          </p:cNvPr>
          <p:cNvSpPr/>
          <p:nvPr/>
        </p:nvSpPr>
        <p:spPr>
          <a:xfrm>
            <a:off x="1093296" y="2120303"/>
            <a:ext cx="12756039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Responsible AI Audit of Social Media Recommendation Systems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67330F-466B-D446-EB15-BC4C282DE5BE}"/>
              </a:ext>
            </a:extLst>
          </p:cNvPr>
          <p:cNvSpPr/>
          <p:nvPr/>
        </p:nvSpPr>
        <p:spPr>
          <a:xfrm>
            <a:off x="3569346" y="3522546"/>
            <a:ext cx="8584525" cy="40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Case Study: YouTube Recommendation Ecosystem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94D2D4-C8B5-7FB9-ABBD-955D3F67FCA4}"/>
              </a:ext>
            </a:extLst>
          </p:cNvPr>
          <p:cNvSpPr/>
          <p:nvPr/>
        </p:nvSpPr>
        <p:spPr>
          <a:xfrm>
            <a:off x="838041" y="6144399"/>
            <a:ext cx="2423398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Team Members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FE7C94C-75B7-E8B8-5B67-1FBFBA5D2E2D}"/>
              </a:ext>
            </a:extLst>
          </p:cNvPr>
          <p:cNvSpPr/>
          <p:nvPr/>
        </p:nvSpPr>
        <p:spPr>
          <a:xfrm>
            <a:off x="838041" y="6524033"/>
            <a:ext cx="4057344" cy="77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buSzPct val="100000"/>
            </a:pPr>
            <a:r>
              <a:rPr lang="en-US" sz="2000" dirty="0" err="1">
                <a:solidFill>
                  <a:srgbClr val="3D3838"/>
                </a:solidFill>
                <a:latin typeface="Aptos" panose="020B0004020202020204" pitchFamily="34" charset="0"/>
              </a:rPr>
              <a:t>Panuganti</a:t>
            </a: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</a:rPr>
              <a:t> Bhanu – S20230030399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</a:rPr>
              <a:t>Sambhav Jain – S20230030407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6B7191-C8B1-C72E-9FDE-F7136F86CC93}"/>
              </a:ext>
            </a:extLst>
          </p:cNvPr>
          <p:cNvSpPr/>
          <p:nvPr/>
        </p:nvSpPr>
        <p:spPr>
          <a:xfrm>
            <a:off x="1897404" y="4293383"/>
            <a:ext cx="11147822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4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Understanding algorithmic bias and fairness issues in large-scale social media recommender systems.</a:t>
            </a: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7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738" y="436623"/>
            <a:ext cx="7849784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Why Recommendation Systems Matter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1738" y="1048090"/>
            <a:ext cx="10079355" cy="29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Social media platforms rely heavily on AI-driven recommendation systems to personalize user content.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1738" y="1421709"/>
            <a:ext cx="10079355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These systems determine: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6294" y="1838665"/>
            <a:ext cx="10079355" cy="669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Which videos appear in feeds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Which creators gain visibility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Which information spreads widely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28233" y="2824438"/>
            <a:ext cx="2391491" cy="530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4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3.8B+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44767" y="3477719"/>
            <a:ext cx="2297787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Daily social media users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75503" y="4613529"/>
            <a:ext cx="1696947" cy="530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4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70%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6731" y="5194896"/>
            <a:ext cx="3934493" cy="45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YouTube watch time driven by </a:t>
            </a:r>
          </a:p>
          <a:p>
            <a:pPr marL="0" indent="0" algn="ctr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recommendations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1736" y="3460869"/>
            <a:ext cx="10079355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Algorithms strongly influence public discourse and information exposure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1736" y="4154781"/>
            <a:ext cx="2191107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Ethical Concern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1735" y="4779146"/>
            <a:ext cx="10079355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Maximizing engagement does not always maximize user well-being.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3973" y="5320507"/>
            <a:ext cx="10079355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Algorithmic optimization can unintentionally lead to: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6294" y="5642556"/>
            <a:ext cx="10079355" cy="150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Polarization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Content amplification bias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Inequality among creators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61F180-76E6-99FF-58C6-8FE31ACD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E3D874D-BAD5-5846-EC94-97CAA57BFA11}"/>
              </a:ext>
            </a:extLst>
          </p:cNvPr>
          <p:cNvSpPr/>
          <p:nvPr/>
        </p:nvSpPr>
        <p:spPr>
          <a:xfrm>
            <a:off x="651043" y="418486"/>
            <a:ext cx="8353169" cy="433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IN" sz="3200" b="1" dirty="0">
                <a:latin typeface="Aptos" panose="020B0004020202020204" pitchFamily="34" charset="0"/>
              </a:rPr>
              <a:t>Two-Tower Recommendation Architecture</a:t>
            </a:r>
            <a:endParaRPr lang="en-US" sz="3200" b="1" dirty="0">
              <a:latin typeface="Aptos" panose="020B00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AEAD858-AFD9-E8DC-3661-C7D6743880C2}"/>
              </a:ext>
            </a:extLst>
          </p:cNvPr>
          <p:cNvSpPr/>
          <p:nvPr/>
        </p:nvSpPr>
        <p:spPr>
          <a:xfrm>
            <a:off x="668167" y="1002150"/>
            <a:ext cx="12601783" cy="386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dirty="0">
                <a:latin typeface="Aptos" panose="020B0004020202020204" pitchFamily="34" charset="0"/>
              </a:rPr>
              <a:t>Modern large-scale recommender systems use a </a:t>
            </a:r>
            <a:r>
              <a:rPr lang="en-US" b="1" dirty="0">
                <a:latin typeface="Aptos" panose="020B0004020202020204" pitchFamily="34" charset="0"/>
              </a:rPr>
              <a:t>Two-Tower neural architecture</a:t>
            </a:r>
            <a:r>
              <a:rPr lang="en-US" dirty="0">
                <a:latin typeface="Aptos" panose="020B0004020202020204" pitchFamily="34" charset="0"/>
              </a:rPr>
              <a:t> to efficiently match users with relevant content.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94EA8A7-8E33-101B-1F6F-0D4BD756926F}"/>
              </a:ext>
            </a:extLst>
          </p:cNvPr>
          <p:cNvSpPr/>
          <p:nvPr/>
        </p:nvSpPr>
        <p:spPr>
          <a:xfrm>
            <a:off x="674678" y="1429286"/>
            <a:ext cx="4544094" cy="45719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147C4AB-858F-D4B9-3392-A695571DCFBE}"/>
              </a:ext>
            </a:extLst>
          </p:cNvPr>
          <p:cNvSpPr/>
          <p:nvPr/>
        </p:nvSpPr>
        <p:spPr>
          <a:xfrm>
            <a:off x="651043" y="1585290"/>
            <a:ext cx="3327916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User Tower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33E2FC3-71E4-956A-2963-F37374787D4A}"/>
              </a:ext>
            </a:extLst>
          </p:cNvPr>
          <p:cNvSpPr/>
          <p:nvPr/>
        </p:nvSpPr>
        <p:spPr>
          <a:xfrm>
            <a:off x="668167" y="1968937"/>
            <a:ext cx="5587667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User behavior is converted into numerical embeddings using: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EAB8AE-80F6-E936-FAC6-7E109AC7CE79}"/>
              </a:ext>
            </a:extLst>
          </p:cNvPr>
          <p:cNvSpPr/>
          <p:nvPr/>
        </p:nvSpPr>
        <p:spPr>
          <a:xfrm>
            <a:off x="742785" y="2244691"/>
            <a:ext cx="3990380" cy="860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Watch history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Likes and subscriptions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Interaction patterns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CE7C91A-1E13-859B-2696-9EEF2588CF2D}"/>
              </a:ext>
            </a:extLst>
          </p:cNvPr>
          <p:cNvSpPr/>
          <p:nvPr/>
        </p:nvSpPr>
        <p:spPr>
          <a:xfrm>
            <a:off x="651043" y="3154907"/>
            <a:ext cx="4567729" cy="45719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2D48F86-7585-0D5C-E6E3-38376BD0A43B}"/>
              </a:ext>
            </a:extLst>
          </p:cNvPr>
          <p:cNvSpPr/>
          <p:nvPr/>
        </p:nvSpPr>
        <p:spPr>
          <a:xfrm>
            <a:off x="668166" y="3292246"/>
            <a:ext cx="4037648" cy="46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Item Tower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840258F-56E8-4D1C-E12C-5D150E9312D4}"/>
              </a:ext>
            </a:extLst>
          </p:cNvPr>
          <p:cNvSpPr/>
          <p:nvPr/>
        </p:nvSpPr>
        <p:spPr>
          <a:xfrm>
            <a:off x="651043" y="3538833"/>
            <a:ext cx="7879639" cy="167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>
                <a:latin typeface="Aptos" panose="020B0004020202020204" pitchFamily="34" charset="0"/>
              </a:rPr>
              <a:t>Encodes video information into an embedding vector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Title and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Tags and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Video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Engagement statistics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32EC40A-CEEB-1C3F-E7CD-873DC3A9BCB5}"/>
              </a:ext>
            </a:extLst>
          </p:cNvPr>
          <p:cNvSpPr/>
          <p:nvPr/>
        </p:nvSpPr>
        <p:spPr>
          <a:xfrm flipV="1">
            <a:off x="651044" y="5030808"/>
            <a:ext cx="4567728" cy="45719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E635C3A-17E5-D2B6-5870-364C526691B1}"/>
              </a:ext>
            </a:extLst>
          </p:cNvPr>
          <p:cNvSpPr/>
          <p:nvPr/>
        </p:nvSpPr>
        <p:spPr>
          <a:xfrm>
            <a:off x="651043" y="5209324"/>
            <a:ext cx="4439091" cy="382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IN" sz="2000" b="1" dirty="0">
                <a:latin typeface="Aptos" panose="020B0004020202020204" pitchFamily="34" charset="0"/>
              </a:rPr>
              <a:t>Matching &amp; Ranking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947D79F-A24C-E00B-0ABA-EE4793E56746}"/>
              </a:ext>
            </a:extLst>
          </p:cNvPr>
          <p:cNvSpPr/>
          <p:nvPr/>
        </p:nvSpPr>
        <p:spPr>
          <a:xfrm>
            <a:off x="651041" y="6357296"/>
            <a:ext cx="8075295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Retrieved candidates are ranked based on: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3CB8141-9D6C-1877-2859-38C6EA698478}"/>
              </a:ext>
            </a:extLst>
          </p:cNvPr>
          <p:cNvSpPr/>
          <p:nvPr/>
        </p:nvSpPr>
        <p:spPr>
          <a:xfrm>
            <a:off x="4120890" y="6668460"/>
            <a:ext cx="3187324" cy="83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Diversity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Fairness constraints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D8E2212-27A4-34AC-E7E9-A758DE3E6720}"/>
              </a:ext>
            </a:extLst>
          </p:cNvPr>
          <p:cNvSpPr/>
          <p:nvPr/>
        </p:nvSpPr>
        <p:spPr>
          <a:xfrm>
            <a:off x="651042" y="7415815"/>
            <a:ext cx="8075295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The final output becomes the personalized recommendation feed.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6C01D-0126-D559-F36C-6788F7DDC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003" y="1652112"/>
            <a:ext cx="6012353" cy="5792008"/>
          </a:xfrm>
          <a:prstGeom prst="rect">
            <a:avLst/>
          </a:prstGeom>
        </p:spPr>
      </p:pic>
      <p:sp>
        <p:nvSpPr>
          <p:cNvPr id="15" name="Text 15">
            <a:extLst>
              <a:ext uri="{FF2B5EF4-FFF2-40B4-BE49-F238E27FC236}">
                <a16:creationId xmlns:a16="http://schemas.microsoft.com/office/drawing/2014/main" id="{3464C05E-A077-380D-926D-768678BDD770}"/>
              </a:ext>
            </a:extLst>
          </p:cNvPr>
          <p:cNvSpPr/>
          <p:nvPr/>
        </p:nvSpPr>
        <p:spPr>
          <a:xfrm>
            <a:off x="662063" y="5591710"/>
            <a:ext cx="8075295" cy="53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>
                <a:latin typeface="Aptos" panose="020B0004020202020204" pitchFamily="34" charset="0"/>
              </a:rPr>
              <a:t>The system computes similarity between:</a:t>
            </a:r>
          </a:p>
          <a:p>
            <a:r>
              <a:rPr lang="en-US" dirty="0">
                <a:latin typeface="Aptos" panose="020B0004020202020204" pitchFamily="34" charset="0"/>
              </a:rPr>
              <a:t>User embedding  ↔  Video embedding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4C5E9EF-A37A-D731-8715-F04B98C9C150}"/>
              </a:ext>
            </a:extLst>
          </p:cNvPr>
          <p:cNvSpPr/>
          <p:nvPr/>
        </p:nvSpPr>
        <p:spPr>
          <a:xfrm>
            <a:off x="873739" y="6694427"/>
            <a:ext cx="3187324" cy="83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Predicted engagement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Recency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6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254" y="528011"/>
            <a:ext cx="11001078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Real-World Ethical Failures of Recommendation Systems</a:t>
            </a:r>
            <a:endParaRPr lang="en-US" sz="3200" dirty="0">
              <a:latin typeface="Aptos" panose="020B00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9CC615-C698-A501-9AD6-03BFD5D33DD3}"/>
              </a:ext>
            </a:extLst>
          </p:cNvPr>
          <p:cNvGrpSpPr/>
          <p:nvPr/>
        </p:nvGrpSpPr>
        <p:grpSpPr>
          <a:xfrm>
            <a:off x="496254" y="1282418"/>
            <a:ext cx="11816621" cy="6171271"/>
            <a:chOff x="6009918" y="2931914"/>
            <a:chExt cx="11085875" cy="3196828"/>
          </a:xfrm>
        </p:grpSpPr>
        <p:sp>
          <p:nvSpPr>
            <p:cNvPr id="4" name="Text 1"/>
            <p:cNvSpPr/>
            <p:nvPr/>
          </p:nvSpPr>
          <p:spPr>
            <a:xfrm>
              <a:off x="6025158" y="2931914"/>
              <a:ext cx="8066365" cy="146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2000" dirty="0">
                  <a:solidFill>
                    <a:srgbClr val="3D3838"/>
                  </a:solidFill>
                  <a:latin typeface="Aptos" panose="020B0004020202020204" pitchFamily="34" charset="0"/>
                  <a:ea typeface="Source Sans 3" pitchFamily="34" charset="-122"/>
                  <a:cs typeface="Source Sans 3" pitchFamily="34" charset="-120"/>
                </a:rPr>
                <a:t>Multiple studies have documented algorithmic harms in social media platforms.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5" name="Shape 2"/>
            <p:cNvSpPr/>
            <p:nvPr/>
          </p:nvSpPr>
          <p:spPr>
            <a:xfrm>
              <a:off x="6025158" y="3153847"/>
              <a:ext cx="11070635" cy="693539"/>
            </a:xfrm>
            <a:prstGeom prst="roundRect">
              <a:avLst>
                <a:gd name="adj" fmla="val 10548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</p:sp>
        <p:sp>
          <p:nvSpPr>
            <p:cNvPr id="6" name="Shape 3"/>
            <p:cNvSpPr/>
            <p:nvPr/>
          </p:nvSpPr>
          <p:spPr>
            <a:xfrm>
              <a:off x="6009918" y="3153847"/>
              <a:ext cx="60960" cy="693539"/>
            </a:xfrm>
            <a:prstGeom prst="roundRect">
              <a:avLst>
                <a:gd name="adj" fmla="val 31643"/>
              </a:avLst>
            </a:prstGeom>
            <a:solidFill>
              <a:srgbClr val="2D2E34"/>
            </a:solidFill>
            <a:ln/>
          </p:spPr>
        </p:sp>
        <p:sp>
          <p:nvSpPr>
            <p:cNvPr id="7" name="Text 4"/>
            <p:cNvSpPr/>
            <p:nvPr/>
          </p:nvSpPr>
          <p:spPr>
            <a:xfrm>
              <a:off x="6214705" y="3297674"/>
              <a:ext cx="6009593" cy="219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b="1" dirty="0">
                  <a:solidFill>
                    <a:srgbClr val="3D3838"/>
                  </a:solidFill>
                  <a:latin typeface="Aptos" panose="020B0004020202020204" pitchFamily="34" charset="0"/>
                  <a:ea typeface="Montserrat Bold" pitchFamily="34" charset="-122"/>
                  <a:cs typeface="Montserrat Bold" pitchFamily="34" charset="-120"/>
                </a:rPr>
                <a:t>YouTube Radicalization Pathways (Ribeiro et al., 2019)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6227389" y="3465290"/>
              <a:ext cx="10807444" cy="2469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3D3838"/>
                  </a:solidFill>
                  <a:latin typeface="Aptos" panose="020B0004020202020204" pitchFamily="34" charset="0"/>
                  <a:ea typeface="Source Sans 3" pitchFamily="34" charset="-122"/>
                  <a:cs typeface="Source Sans 3" pitchFamily="34" charset="-120"/>
                </a:rPr>
                <a:t>Recommendation systems often guided users from mainstream videos to increasingly extreme content through </a:t>
              </a:r>
            </a:p>
            <a:p>
              <a:pPr marL="0" indent="0" algn="l">
                <a:buNone/>
              </a:pPr>
              <a:r>
                <a:rPr lang="en-US" dirty="0">
                  <a:solidFill>
                    <a:srgbClr val="3D3838"/>
                  </a:solidFill>
                  <a:latin typeface="Aptos" panose="020B0004020202020204" pitchFamily="34" charset="0"/>
                  <a:ea typeface="Source Sans 3" pitchFamily="34" charset="-122"/>
                  <a:cs typeface="Source Sans 3" pitchFamily="34" charset="-120"/>
                </a:rPr>
                <a:t>engagement optimization.</a:t>
              </a:r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6025158" y="3914299"/>
              <a:ext cx="11070635" cy="693539"/>
            </a:xfrm>
            <a:prstGeom prst="roundRect">
              <a:avLst>
                <a:gd name="adj" fmla="val 10548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</p:sp>
        <p:sp>
          <p:nvSpPr>
            <p:cNvPr id="10" name="Shape 7"/>
            <p:cNvSpPr/>
            <p:nvPr/>
          </p:nvSpPr>
          <p:spPr>
            <a:xfrm>
              <a:off x="6009918" y="3914299"/>
              <a:ext cx="60960" cy="693539"/>
            </a:xfrm>
            <a:prstGeom prst="roundRect">
              <a:avLst>
                <a:gd name="adj" fmla="val 31643"/>
              </a:avLst>
            </a:prstGeom>
            <a:solidFill>
              <a:srgbClr val="2D2E34"/>
            </a:solidFill>
            <a:ln/>
          </p:spPr>
        </p:sp>
        <p:sp>
          <p:nvSpPr>
            <p:cNvPr id="11" name="Text 8"/>
            <p:cNvSpPr/>
            <p:nvPr/>
          </p:nvSpPr>
          <p:spPr>
            <a:xfrm>
              <a:off x="6214705" y="4058126"/>
              <a:ext cx="4714161" cy="219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b="1" dirty="0">
                  <a:solidFill>
                    <a:srgbClr val="3D3838"/>
                  </a:solidFill>
                  <a:latin typeface="Aptos" panose="020B0004020202020204" pitchFamily="34" charset="0"/>
                  <a:ea typeface="Montserrat Bold" pitchFamily="34" charset="-122"/>
                  <a:cs typeface="Montserrat Bold" pitchFamily="34" charset="-120"/>
                </a:rPr>
                <a:t>Facebook Algorithm Amplification (WSJ Files, 2021)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6214705" y="4249709"/>
              <a:ext cx="10513122" cy="219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3D3838"/>
                  </a:solidFill>
                  <a:latin typeface="Aptos" panose="020B0004020202020204" pitchFamily="34" charset="0"/>
                  <a:ea typeface="Source Sans 3" pitchFamily="34" charset="-122"/>
                  <a:cs typeface="Source Sans 3" pitchFamily="34" charset="-120"/>
                </a:rPr>
                <a:t>Internal reports showed algorithms prioritized anger-inducing content because it generated higher engagement.</a:t>
              </a:r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6025158" y="4674751"/>
              <a:ext cx="11070635" cy="693539"/>
            </a:xfrm>
            <a:prstGeom prst="roundRect">
              <a:avLst>
                <a:gd name="adj" fmla="val 10548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</p:sp>
        <p:sp>
          <p:nvSpPr>
            <p:cNvPr id="14" name="Shape 11"/>
            <p:cNvSpPr/>
            <p:nvPr/>
          </p:nvSpPr>
          <p:spPr>
            <a:xfrm>
              <a:off x="6009918" y="4674751"/>
              <a:ext cx="60960" cy="693539"/>
            </a:xfrm>
            <a:prstGeom prst="roundRect">
              <a:avLst>
                <a:gd name="adj" fmla="val 31643"/>
              </a:avLst>
            </a:prstGeom>
            <a:solidFill>
              <a:srgbClr val="2D2E34"/>
            </a:solidFill>
            <a:ln/>
          </p:spPr>
        </p:sp>
        <p:sp>
          <p:nvSpPr>
            <p:cNvPr id="15" name="Text 12"/>
            <p:cNvSpPr/>
            <p:nvPr/>
          </p:nvSpPr>
          <p:spPr>
            <a:xfrm>
              <a:off x="6214705" y="4818578"/>
              <a:ext cx="5204936" cy="219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b="1" dirty="0">
                  <a:solidFill>
                    <a:srgbClr val="3D3838"/>
                  </a:solidFill>
                  <a:latin typeface="Aptos" panose="020B0004020202020204" pitchFamily="34" charset="0"/>
                  <a:ea typeface="Montserrat Bold" pitchFamily="34" charset="-122"/>
                  <a:cs typeface="Montserrat Bold" pitchFamily="34" charset="-120"/>
                </a:rPr>
                <a:t>TikTok Content Suppression (Bandy &amp; Diakopoulos, 2021)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6214705" y="5077897"/>
              <a:ext cx="10391203" cy="2134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Aptos" panose="020B0004020202020204" pitchFamily="34" charset="0"/>
                  <a:ea typeface="Source Sans 3" pitchFamily="34" charset="-122"/>
                  <a:cs typeface="Source Sans 3" pitchFamily="34" charset="-120"/>
                </a:rPr>
                <a:t>Moderation policies suppressed visibility of creators based on appearance, disability, or perceived vulnerability.</a:t>
              </a:r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17" name="Shape 14"/>
            <p:cNvSpPr/>
            <p:nvPr/>
          </p:nvSpPr>
          <p:spPr>
            <a:xfrm>
              <a:off x="6025158" y="5435203"/>
              <a:ext cx="11070635" cy="693539"/>
            </a:xfrm>
            <a:prstGeom prst="roundRect">
              <a:avLst>
                <a:gd name="adj" fmla="val 10548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Aptos" panose="020B0004020202020204" pitchFamily="34" charset="0"/>
              </a:endParaRPr>
            </a:p>
          </p:txBody>
        </p:sp>
        <p:sp>
          <p:nvSpPr>
            <p:cNvPr id="18" name="Shape 15"/>
            <p:cNvSpPr/>
            <p:nvPr/>
          </p:nvSpPr>
          <p:spPr>
            <a:xfrm>
              <a:off x="6009918" y="5435203"/>
              <a:ext cx="60960" cy="693539"/>
            </a:xfrm>
            <a:prstGeom prst="roundRect">
              <a:avLst>
                <a:gd name="adj" fmla="val 31643"/>
              </a:avLst>
            </a:prstGeom>
            <a:solidFill>
              <a:srgbClr val="2D2E34"/>
            </a:solidFill>
            <a:ln/>
          </p:spPr>
        </p:sp>
        <p:sp>
          <p:nvSpPr>
            <p:cNvPr id="19" name="Text 16"/>
            <p:cNvSpPr/>
            <p:nvPr/>
          </p:nvSpPr>
          <p:spPr>
            <a:xfrm>
              <a:off x="6214705" y="5579031"/>
              <a:ext cx="5230654" cy="219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b="1" dirty="0">
                  <a:solidFill>
                    <a:srgbClr val="3D3838"/>
                  </a:solidFill>
                  <a:latin typeface="Aptos" panose="020B0004020202020204" pitchFamily="34" charset="0"/>
                  <a:ea typeface="Montserrat Bold" pitchFamily="34" charset="-122"/>
                  <a:cs typeface="Montserrat Bold" pitchFamily="34" charset="-120"/>
                </a:rPr>
                <a:t>Twitter Political Amplification (Twitter Engineering, 2021)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6214704" y="5838349"/>
              <a:ext cx="10303889" cy="2191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Aptos" panose="020B0004020202020204" pitchFamily="34" charset="0"/>
                  <a:ea typeface="Source Sans 3" pitchFamily="34" charset="-122"/>
                  <a:cs typeface="Source Sans 3" pitchFamily="34" charset="-120"/>
                </a:rPr>
                <a:t>Analysis showed political content amplification asymmetry across ideological groups.</a:t>
              </a:r>
              <a:endParaRPr lang="en-US" dirty="0"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8394" y="547653"/>
            <a:ext cx="4633317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IN" sz="3600" b="1" dirty="0">
                <a:latin typeface="Aptos" panose="020B0004020202020204" pitchFamily="34" charset="0"/>
              </a:rPr>
              <a:t>Exploratory Data Analysis</a:t>
            </a:r>
            <a:endParaRPr lang="en-US" sz="3200" b="1" dirty="0"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97ADEE-E7B7-C8CB-CC77-770CD442519D}"/>
              </a:ext>
            </a:extLst>
          </p:cNvPr>
          <p:cNvSpPr txBox="1"/>
          <p:nvPr/>
        </p:nvSpPr>
        <p:spPr>
          <a:xfrm>
            <a:off x="488394" y="1022262"/>
            <a:ext cx="4953401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Aptos" panose="020B0004020202020204" pitchFamily="34" charset="0"/>
              </a:rPr>
              <a:t>Dataset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995 top YouTube channels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47 countries represented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28 platform features analyzed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301442-24C5-FE84-AFE5-FED367F630F2}"/>
              </a:ext>
            </a:extLst>
          </p:cNvPr>
          <p:cNvSpPr txBox="1"/>
          <p:nvPr/>
        </p:nvSpPr>
        <p:spPr>
          <a:xfrm>
            <a:off x="488394" y="28609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ptos" panose="020B0004020202020204" pitchFamily="34" charset="0"/>
              </a:rPr>
              <a:t>Popularity Bias in Recommendation Systems</a:t>
            </a:r>
            <a:endParaRPr lang="en-US" sz="2400" dirty="0">
              <a:latin typeface="Aptos" panose="020B00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68D044-5178-679F-DC8C-515FA4EE5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98710"/>
            <a:ext cx="6904865" cy="291918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DB41226-4AFC-5FD6-6E94-F6B4CA303E33}"/>
              </a:ext>
            </a:extLst>
          </p:cNvPr>
          <p:cNvSpPr txBox="1"/>
          <p:nvPr/>
        </p:nvSpPr>
        <p:spPr>
          <a:xfrm>
            <a:off x="488394" y="3400736"/>
            <a:ext cx="5678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Subscriber distribution is heavily right-skewed.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FB153D7-F7E1-07F4-9360-83950E45E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607" y="4404035"/>
            <a:ext cx="6882458" cy="300177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9A7833A-944A-7F6F-2F8D-9ED0B90534F7}"/>
              </a:ext>
            </a:extLst>
          </p:cNvPr>
          <p:cNvSpPr txBox="1"/>
          <p:nvPr/>
        </p:nvSpPr>
        <p:spPr>
          <a:xfrm>
            <a:off x="488394" y="4984835"/>
            <a:ext cx="6378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High subscribers → more recommendations → more views → more subscribers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09DB4F-D05B-F724-8D5F-537FD82F476E}"/>
              </a:ext>
            </a:extLst>
          </p:cNvPr>
          <p:cNvSpPr txBox="1"/>
          <p:nvPr/>
        </p:nvSpPr>
        <p:spPr>
          <a:xfrm>
            <a:off x="488394" y="5602326"/>
            <a:ext cx="6849213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This creates a self-reinforcing feedback loop.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The correlation between subscribers and total views is r ≈ 0.7, confirming the </a:t>
            </a:r>
            <a:r>
              <a:rPr lang="en-US" b="1" dirty="0">
                <a:latin typeface="Aptos" panose="020B0004020202020204" pitchFamily="34" charset="0"/>
              </a:rPr>
              <a:t>Matthew Effect (“rich get richer”)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1CCA3B-2A71-6B4F-3BD3-0E49D6ECA83C}"/>
              </a:ext>
            </a:extLst>
          </p:cNvPr>
          <p:cNvSpPr txBox="1"/>
          <p:nvPr/>
        </p:nvSpPr>
        <p:spPr>
          <a:xfrm>
            <a:off x="488394" y="6901208"/>
            <a:ext cx="6481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Smaller creators struggle to gain visibility even if their content quality is high.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0A5CC9-861B-7DFF-EBDE-427AC9CF279E}"/>
              </a:ext>
            </a:extLst>
          </p:cNvPr>
          <p:cNvSpPr txBox="1"/>
          <p:nvPr/>
        </p:nvSpPr>
        <p:spPr>
          <a:xfrm>
            <a:off x="488394" y="3624717"/>
            <a:ext cx="4817327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Example: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T-Series: ~245M subscribers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Median channel: ~17.7M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700AFD-12E8-DC9A-A3EF-034CB232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D9381D01-6855-9C75-E95B-10E912FEFC7F}"/>
              </a:ext>
            </a:extLst>
          </p:cNvPr>
          <p:cNvSpPr txBox="1"/>
          <p:nvPr/>
        </p:nvSpPr>
        <p:spPr>
          <a:xfrm>
            <a:off x="388033" y="48311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ptos" panose="020B0004020202020204" pitchFamily="34" charset="0"/>
              </a:rPr>
              <a:t>Geographic Bias in the YouTube Ecosystem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C8444-6966-15D0-43B9-3A8EE9D07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019" y="972508"/>
            <a:ext cx="6433118" cy="2888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FB543-F4A6-CAA9-3142-B35F78FDBA06}"/>
              </a:ext>
            </a:extLst>
          </p:cNvPr>
          <p:cNvSpPr txBox="1"/>
          <p:nvPr/>
        </p:nvSpPr>
        <p:spPr>
          <a:xfrm>
            <a:off x="488394" y="929588"/>
            <a:ext cx="5733986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The United States dominates top channels.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35.9% of channels are from the 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US population share globally: ~4.2%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0A192-88D5-D0D5-72CE-77BD205BAC68}"/>
              </a:ext>
            </a:extLst>
          </p:cNvPr>
          <p:cNvSpPr txBox="1"/>
          <p:nvPr/>
        </p:nvSpPr>
        <p:spPr>
          <a:xfrm>
            <a:off x="488394" y="2228470"/>
            <a:ext cx="643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Many regions such as Saudi Arabia are under-represented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67DD5-D8A9-D1C7-8E90-7CF23A28CE3B}"/>
              </a:ext>
            </a:extLst>
          </p:cNvPr>
          <p:cNvSpPr txBox="1"/>
          <p:nvPr/>
        </p:nvSpPr>
        <p:spPr>
          <a:xfrm>
            <a:off x="488394" y="2597802"/>
            <a:ext cx="6433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Algorithms may be optimized around English-language user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Creators from the Global South face structural disadvantages.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992FF-40F2-8C5E-4E11-BDED47472911}"/>
              </a:ext>
            </a:extLst>
          </p:cNvPr>
          <p:cNvSpPr txBox="1"/>
          <p:nvPr/>
        </p:nvSpPr>
        <p:spPr>
          <a:xfrm>
            <a:off x="488394" y="394215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Earnings Inequality Among Creators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89F403-09F9-0BF3-EB6D-B93D178EAAD7}"/>
              </a:ext>
            </a:extLst>
          </p:cNvPr>
          <p:cNvSpPr txBox="1"/>
          <p:nvPr/>
        </p:nvSpPr>
        <p:spPr>
          <a:xfrm>
            <a:off x="488394" y="4410497"/>
            <a:ext cx="73152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>
                <a:latin typeface="Aptos" panose="020B0004020202020204" pitchFamily="34" charset="0"/>
              </a:rPr>
              <a:t>We measured inequality using the GINI coefficient. </a:t>
            </a:r>
            <a:r>
              <a:rPr lang="en-US" b="1" dirty="0">
                <a:latin typeface="Aptos" panose="020B0004020202020204" pitchFamily="34" charset="0"/>
              </a:rPr>
              <a:t>(GINI = 0.703)</a:t>
            </a:r>
          </a:p>
          <a:p>
            <a:pPr>
              <a:spcAft>
                <a:spcPts val="400"/>
              </a:spcAft>
              <a:buNone/>
            </a:pPr>
            <a:r>
              <a:rPr lang="en-US" dirty="0">
                <a:latin typeface="Aptos" panose="020B0004020202020204" pitchFamily="34" charset="0"/>
              </a:rPr>
              <a:t>Interpretation: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0 → perfect equality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1 → extreme inequality</a:t>
            </a:r>
          </a:p>
          <a:p>
            <a:pPr>
              <a:spcAft>
                <a:spcPts val="400"/>
              </a:spcAft>
              <a:buNone/>
            </a:pPr>
            <a:r>
              <a:rPr lang="en-US" dirty="0">
                <a:latin typeface="Aptos" panose="020B0004020202020204" pitchFamily="34" charset="0"/>
              </a:rPr>
              <a:t>A value above 0.5 indicates severe concentration of wealth.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50657D83-FD30-53CF-9DA4-A08D61B8B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93" y="6099683"/>
            <a:ext cx="7396625" cy="1302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top 10% of channels earn a disproportionate share of revenue.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This suggests that the platform's recommendation algorithm amplifies a small elite group of creators.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Extreme inequality discourages diversity in content creation.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D45243-6C2E-7795-8CCF-DD4AB6E72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690" y="4464720"/>
            <a:ext cx="6418447" cy="282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4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C6A9EB-0558-C685-F2A9-6713DE56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1CC0BB-C499-3FA6-4582-1C9DB9784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70" y="688796"/>
            <a:ext cx="7585369" cy="33472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5A6741-E80A-BB28-B83F-FE9108993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012" y="4399454"/>
            <a:ext cx="7887768" cy="34205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B008E46-6D97-80A0-EA51-73F67CE3844F}"/>
              </a:ext>
            </a:extLst>
          </p:cNvPr>
          <p:cNvSpPr txBox="1"/>
          <p:nvPr/>
        </p:nvSpPr>
        <p:spPr>
          <a:xfrm>
            <a:off x="8184716" y="828009"/>
            <a:ext cx="5679874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400" b="1" dirty="0">
                <a:latin typeface="Aptos" panose="020B0004020202020204" pitchFamily="34" charset="0"/>
              </a:rPr>
              <a:t>Earnings Disparity Across Categories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Shows category has the highest average monthly earnings.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Entertainment and Sports also generate significant revenue.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Education and Science categories earn much less comparatively.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Indicates financial bias toward entertainment content.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2C270-A5C4-3380-FDB1-07874138CDA4}"/>
              </a:ext>
            </a:extLst>
          </p:cNvPr>
          <p:cNvSpPr txBox="1"/>
          <p:nvPr/>
        </p:nvSpPr>
        <p:spPr>
          <a:xfrm>
            <a:off x="388620" y="4699563"/>
            <a:ext cx="616077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400" b="1" dirty="0">
                <a:latin typeface="Aptos" panose="020B0004020202020204" pitchFamily="34" charset="0"/>
              </a:rPr>
              <a:t>Content Category Analysis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Entertainment and Music dominate top YouTube channels.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Shows category has the highest average subscribers.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Educational and science channels have lower visibility and views.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Suggests engagement-driven algorithm preference.</a:t>
            </a:r>
          </a:p>
        </p:txBody>
      </p:sp>
    </p:spTree>
    <p:extLst>
      <p:ext uri="{BB962C8B-B14F-4D97-AF65-F5344CB8AC3E}">
        <p14:creationId xmlns:p14="http://schemas.microsoft.com/office/powerpoint/2010/main" val="314209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25E79A-3086-E773-8E24-1FA885E0A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4E7F3C1-B978-DBAE-8139-E31C166EC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7" y="900736"/>
            <a:ext cx="8660191" cy="377808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03BDDF-E311-E2CC-E188-0C5F82B2AA51}"/>
              </a:ext>
            </a:extLst>
          </p:cNvPr>
          <p:cNvSpPr txBox="1"/>
          <p:nvPr/>
        </p:nvSpPr>
        <p:spPr>
          <a:xfrm>
            <a:off x="639927" y="5062653"/>
            <a:ext cx="64243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Aptos" panose="020B0004020202020204" pitchFamily="34" charset="0"/>
              </a:rPr>
              <a:t>Channel Creation Timeline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Most top channels were created between 2006–2015.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Very few new channels appear among top creators.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Older channels generally have higher subscriber counts.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Demonstrates first-mover advantage in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650071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D7B871-7CAF-A9FE-44D1-14A52938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B9947AF-33F7-8EE8-5484-42CDB88CB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05" y="925123"/>
            <a:ext cx="8134753" cy="36040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7267F4-A487-CA97-F187-9F0FCCAAFB2B}"/>
              </a:ext>
            </a:extLst>
          </p:cNvPr>
          <p:cNvSpPr txBox="1"/>
          <p:nvPr/>
        </p:nvSpPr>
        <p:spPr>
          <a:xfrm>
            <a:off x="485140" y="486468"/>
            <a:ext cx="7315200" cy="489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</a:pPr>
            <a:r>
              <a:rPr lang="en-IN" sz="2800" b="1" dirty="0">
                <a:latin typeface="Aptos" panose="020B0004020202020204" pitchFamily="34" charset="0"/>
              </a:rPr>
              <a:t>Algorithm Explainability Analysis</a:t>
            </a:r>
            <a:endParaRPr lang="en-US" sz="2800" b="1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0A24D-DBAF-613F-4B1B-05228D109412}"/>
              </a:ext>
            </a:extLst>
          </p:cNvPr>
          <p:cNvSpPr txBox="1"/>
          <p:nvPr/>
        </p:nvSpPr>
        <p:spPr>
          <a:xfrm>
            <a:off x="579864" y="1435402"/>
            <a:ext cx="5163015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Aptos" panose="020B0004020202020204" pitchFamily="34" charset="0"/>
              </a:rPr>
              <a:t>What the Plot Shows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Analyzes which features influence YouTube channel ranking.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Uses correlation with view rank to estimate feature importance.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Scatter plot shows relationship between subscribers, views, and ranking.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A5EF0-B542-D406-AF56-0EC05B2C871A}"/>
              </a:ext>
            </a:extLst>
          </p:cNvPr>
          <p:cNvSpPr txBox="1"/>
          <p:nvPr/>
        </p:nvSpPr>
        <p:spPr>
          <a:xfrm>
            <a:off x="485140" y="4380600"/>
            <a:ext cx="605511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Aptos" panose="020B0004020202020204" pitchFamily="34" charset="0"/>
              </a:rPr>
              <a:t>Key Findings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Total views and subscribers are the strongest predictors of rank.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Channels with higher subscribers and views consistently rank better.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Upload frequency and views per video have much weaker influence.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Indicates the algorithm favors existing popularity over content quality.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EE5F52-0DAA-A947-75CB-558256011873}"/>
              </a:ext>
            </a:extLst>
          </p:cNvPr>
          <p:cNvSpPr txBox="1"/>
          <p:nvPr/>
        </p:nvSpPr>
        <p:spPr>
          <a:xfrm>
            <a:off x="7593920" y="4813611"/>
            <a:ext cx="579302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latin typeface="Aptos" panose="020B0004020202020204" pitchFamily="34" charset="0"/>
              </a:rPr>
              <a:t>Responsible AI Concern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Ranking factors are not transparent to creators.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Lack of explainability makes it hard to understand or improve rankings.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Raises concerns related to algorithmic transparency and fairness.</a:t>
            </a:r>
          </a:p>
        </p:txBody>
      </p:sp>
    </p:spTree>
    <p:extLst>
      <p:ext uri="{BB962C8B-B14F-4D97-AF65-F5344CB8AC3E}">
        <p14:creationId xmlns:p14="http://schemas.microsoft.com/office/powerpoint/2010/main" val="206686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5486" y="438387"/>
            <a:ext cx="6717863" cy="64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Responsible AI Solutions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55486" y="1298614"/>
            <a:ext cx="7544991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latin typeface="Aptos" panose="020B0004020202020204" pitchFamily="34" charset="0"/>
                <a:ea typeface="Source Sans 3" pitchFamily="34" charset="-122"/>
                <a:cs typeface="Source Sans 3" pitchFamily="34" charset="-120"/>
              </a:rPr>
              <a:t>To mitigate bias, several Responsible AI methods can be applied.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4116297-DEA2-D21C-CA86-3A093B1DF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99018"/>
              </p:ext>
            </p:extLst>
          </p:nvPr>
        </p:nvGraphicFramePr>
        <p:xfrm>
          <a:off x="555486" y="1839872"/>
          <a:ext cx="13842185" cy="510783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061529">
                  <a:extLst>
                    <a:ext uri="{9D8B030D-6E8A-4147-A177-3AD203B41FA5}">
                      <a16:colId xmlns:a16="http://schemas.microsoft.com/office/drawing/2014/main" val="2234473936"/>
                    </a:ext>
                  </a:extLst>
                </a:gridCol>
                <a:gridCol w="3742790">
                  <a:extLst>
                    <a:ext uri="{9D8B030D-6E8A-4147-A177-3AD203B41FA5}">
                      <a16:colId xmlns:a16="http://schemas.microsoft.com/office/drawing/2014/main" val="4259501070"/>
                    </a:ext>
                  </a:extLst>
                </a:gridCol>
                <a:gridCol w="2843561">
                  <a:extLst>
                    <a:ext uri="{9D8B030D-6E8A-4147-A177-3AD203B41FA5}">
                      <a16:colId xmlns:a16="http://schemas.microsoft.com/office/drawing/2014/main" val="1189138222"/>
                    </a:ext>
                  </a:extLst>
                </a:gridCol>
                <a:gridCol w="4194305">
                  <a:extLst>
                    <a:ext uri="{9D8B030D-6E8A-4147-A177-3AD203B41FA5}">
                      <a16:colId xmlns:a16="http://schemas.microsoft.com/office/drawing/2014/main" val="3810131559"/>
                    </a:ext>
                  </a:extLst>
                </a:gridCol>
              </a:tblGrid>
              <a:tr h="386797">
                <a:tc>
                  <a:txBody>
                    <a:bodyPr/>
                    <a:lstStyle/>
                    <a:p>
                      <a:r>
                        <a:rPr lang="en-IN" dirty="0"/>
                        <a:t>Bias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Metric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Recommended Fix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96284"/>
                  </a:ext>
                </a:extLst>
              </a:tr>
              <a:tr h="635830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Popularity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Subscribers strongly influence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Diversity-aware re-ranking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67552"/>
                  </a:ext>
                </a:extLst>
              </a:tr>
              <a:tr h="635830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Geographic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US channels = 35.9% of top channels</a:t>
                      </a:r>
                      <a:endParaRPr lang="en-IN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Country diversity quota in Top-K results</a:t>
                      </a:r>
                      <a:endParaRPr lang="en-IN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710202"/>
                  </a:ext>
                </a:extLst>
              </a:tr>
              <a:tr h="635830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Earnings Inequality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GINI coefficient &gt;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Add inequality penalty in ranking loss</a:t>
                      </a:r>
                      <a:endParaRPr lang="en-IN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655309"/>
                  </a:ext>
                </a:extLst>
              </a:tr>
              <a:tr h="906058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Category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Educational content earns less than entertainment</a:t>
                      </a:r>
                      <a:endParaRPr lang="en-IN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Category fairness weighting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734464"/>
                  </a:ext>
                </a:extLst>
              </a:tr>
              <a:tr h="635830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First-Mover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Older channels dominate top rankings</a:t>
                      </a:r>
                      <a:endParaRPr lang="en-IN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Recency boost for new creators</a:t>
                      </a:r>
                      <a:endParaRPr lang="en-IN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775412"/>
                  </a:ext>
                </a:extLst>
              </a:tr>
              <a:tr h="635830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Explainability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Ranking drivers not transparent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SHAP-based explanation for rankings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655756"/>
                  </a:ext>
                </a:extLst>
              </a:tr>
              <a:tr h="635830"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Data Privacy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/>
                        <a:t>12.3% channels missing country data</a:t>
                      </a:r>
                      <a:endParaRPr lang="en-IN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/>
                        <a:t>Federated learning for metadata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8997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62FF26-6FD3-BCA3-8C91-E07C3099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1BFF52-AF75-8B4D-4E26-4B1C64EEB658}"/>
              </a:ext>
            </a:extLst>
          </p:cNvPr>
          <p:cNvSpPr/>
          <p:nvPr/>
        </p:nvSpPr>
        <p:spPr>
          <a:xfrm>
            <a:off x="6394186" y="3790354"/>
            <a:ext cx="1842027" cy="64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6000" b="1" dirty="0" err="1">
                <a:solidFill>
                  <a:srgbClr val="000000"/>
                </a:solidFill>
                <a:latin typeface="Aptos" panose="020B0004020202020204" pitchFamily="34" charset="0"/>
                <a:ea typeface="Montserrat Bold" pitchFamily="34" charset="-122"/>
                <a:cs typeface="Montserrat Bold" pitchFamily="34" charset="-120"/>
              </a:rPr>
              <a:t>QnA</a:t>
            </a:r>
            <a:endParaRPr lang="en-US" sz="6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46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B09165-979E-78E0-E500-B602B040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140B91-6EF5-4094-B84B-495A1E14A897}"/>
              </a:ext>
            </a:extLst>
          </p:cNvPr>
          <p:cNvSpPr/>
          <p:nvPr/>
        </p:nvSpPr>
        <p:spPr>
          <a:xfrm>
            <a:off x="5538849" y="3790354"/>
            <a:ext cx="3552702" cy="64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6000" b="1" dirty="0">
                <a:latin typeface="Aptos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92895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888</Words>
  <Application>Microsoft Office PowerPoint</Application>
  <PresentationFormat>Custom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BHANU PANUGANTI</dc:creator>
  <cp:lastModifiedBy>BHANU PANUGANTI</cp:lastModifiedBy>
  <cp:revision>24</cp:revision>
  <dcterms:created xsi:type="dcterms:W3CDTF">2026-03-12T06:31:02Z</dcterms:created>
  <dcterms:modified xsi:type="dcterms:W3CDTF">2026-04-17T09:49:05Z</dcterms:modified>
</cp:coreProperties>
</file>